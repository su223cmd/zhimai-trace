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3"/>
  </p:notesMasterIdLst>
  <p:sldIdLst>
    <p:sldId id="334" r:id="rId4"/>
    <p:sldId id="300" r:id="rId5"/>
    <p:sldId id="328" r:id="rId6"/>
    <p:sldId id="338" r:id="rId7"/>
    <p:sldId id="339" r:id="rId8"/>
    <p:sldId id="341" r:id="rId9"/>
    <p:sldId id="326" r:id="rId10"/>
    <p:sldId id="331" r:id="rId11"/>
    <p:sldId id="340" r:id="rId12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85C3"/>
    <a:srgbClr val="FFFFFF"/>
    <a:srgbClr val="3E56A3"/>
    <a:srgbClr val="2C489A"/>
    <a:srgbClr val="2C489B"/>
    <a:srgbClr val="2B4A99"/>
    <a:srgbClr val="4466A2"/>
    <a:srgbClr val="2F5597"/>
    <a:srgbClr val="3E57A3"/>
    <a:srgbClr val="3F5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91" autoAdjust="0"/>
    <p:restoredTop sz="94660"/>
  </p:normalViewPr>
  <p:slideViewPr>
    <p:cSldViewPr snapToGrid="0" showGuides="1">
      <p:cViewPr varScale="1">
        <p:scale>
          <a:sx n="74" d="100"/>
          <a:sy n="74" d="100"/>
        </p:scale>
        <p:origin x="690" y="66"/>
      </p:cViewPr>
      <p:guideLst>
        <p:guide orient="horz" pos="22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tags" Target="tags/tag4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C68347-0FDB-4CE6-B043-2C7588DAA4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23AA71-CBB8-4492-92DB-D19ACCFE8D7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tags" Target="../tags/tag13.xml"/><Relationship Id="rId15" Type="http://schemas.openxmlformats.org/officeDocument/2006/relationships/tags" Target="../tags/tag14.xml"/><Relationship Id="rId16" Type="http://schemas.openxmlformats.org/officeDocument/2006/relationships/tags" Target="../tags/tag15.xml"/><Relationship Id="rId17" Type="http://schemas.openxmlformats.org/officeDocument/2006/relationships/tags" Target="../tags/tag16.xml"/><Relationship Id="rId18" Type="http://schemas.openxmlformats.org/officeDocument/2006/relationships/tags" Target="../tags/tag17.xml"/><Relationship Id="rId19" Type="http://schemas.openxmlformats.org/officeDocument/2006/relationships/tags" Target="../tags/tag18.xml"/><Relationship Id="rId20" Type="http://schemas.openxmlformats.org/officeDocument/2006/relationships/tags" Target="../tags/tag19.xml"/><Relationship Id="rId21" Type="http://schemas.openxmlformats.org/officeDocument/2006/relationships/tags" Target="../tags/tag20.xml"/><Relationship Id="rId22" Type="http://schemas.openxmlformats.org/officeDocument/2006/relationships/tags" Target="../tags/tag21.xml"/><Relationship Id="rId23" Type="http://schemas.openxmlformats.org/officeDocument/2006/relationships/tags" Target="../tags/tag22.xml"/><Relationship Id="rId24" Type="http://schemas.openxmlformats.org/officeDocument/2006/relationships/tags" Target="../tags/tag23.xml"/><Relationship Id="rId25" Type="http://schemas.openxmlformats.org/officeDocument/2006/relationships/tags" Target="../tags/tag24.xml"/><Relationship Id="rId26" Type="http://schemas.openxmlformats.org/officeDocument/2006/relationships/slideLayout" Target="../slideLayouts/slideLayout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tags" Target="../tags/tag25.xml"/><Relationship Id="rId3" Type="http://schemas.openxmlformats.org/officeDocument/2006/relationships/tags" Target="../tags/tag26.xml"/><Relationship Id="rId4" Type="http://schemas.openxmlformats.org/officeDocument/2006/relationships/tags" Target="../tags/tag27.xml"/><Relationship Id="rId5" Type="http://schemas.openxmlformats.org/officeDocument/2006/relationships/tags" Target="../tags/tag28.xml"/><Relationship Id="rId6" Type="http://schemas.openxmlformats.org/officeDocument/2006/relationships/tags" Target="../tags/tag29.xml"/><Relationship Id="rId7" Type="http://schemas.openxmlformats.org/officeDocument/2006/relationships/tags" Target="../tags/tag30.xml"/><Relationship Id="rId8" Type="http://schemas.openxmlformats.org/officeDocument/2006/relationships/tags" Target="../tags/tag31.xml"/><Relationship Id="rId9" Type="http://schemas.openxmlformats.org/officeDocument/2006/relationships/tags" Target="../tags/tag32.xml"/><Relationship Id="rId10" Type="http://schemas.openxmlformats.org/officeDocument/2006/relationships/tags" Target="../tags/tag33.xml"/><Relationship Id="rId11" Type="http://schemas.openxmlformats.org/officeDocument/2006/relationships/tags" Target="../tags/tag34.xml"/><Relationship Id="rId12" Type="http://schemas.openxmlformats.org/officeDocument/2006/relationships/tags" Target="../tags/tag35.xml"/><Relationship Id="rId13" Type="http://schemas.openxmlformats.org/officeDocument/2006/relationships/tags" Target="../tags/tag36.xml"/><Relationship Id="rId14" Type="http://schemas.openxmlformats.org/officeDocument/2006/relationships/tags" Target="../tags/tag37.xml"/><Relationship Id="rId15" Type="http://schemas.openxmlformats.org/officeDocument/2006/relationships/tags" Target="../tags/tag38.xml"/><Relationship Id="rId16" Type="http://schemas.openxmlformats.org/officeDocument/2006/relationships/tags" Target="../tags/tag39.xml"/><Relationship Id="rId17" Type="http://schemas.openxmlformats.org/officeDocument/2006/relationships/tags" Target="../tags/tag40.xml"/><Relationship Id="rId18" Type="http://schemas.openxmlformats.org/officeDocument/2006/relationships/tags" Target="../tags/tag41.xml"/><Relationship Id="rId19" Type="http://schemas.openxmlformats.org/officeDocument/2006/relationships/tags" Target="../tags/tag42.xml"/><Relationship Id="rId20" Type="http://schemas.openxmlformats.org/officeDocument/2006/relationships/tags" Target="../tags/tag43.xml"/><Relationship Id="rId21" Type="http://schemas.openxmlformats.org/officeDocument/2006/relationships/tags" Target="../tags/tag44.xml"/><Relationship Id="rId22" Type="http://schemas.openxmlformats.org/officeDocument/2006/relationships/tags" Target="../tags/tag45.xml"/><Relationship Id="rId23" Type="http://schemas.openxmlformats.org/officeDocument/2006/relationships/tags" Target="../tags/tag46.xml"/><Relationship Id="rId24" Type="http://schemas.openxmlformats.org/officeDocument/2006/relationships/tags" Target="../tags/tag47.xml"/><Relationship Id="rId25" Type="http://schemas.openxmlformats.org/officeDocument/2006/relationships/tags" Target="../tags/tag48.xml"/><Relationship Id="rId26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2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1663065" y="1995170"/>
            <a:ext cx="10528300" cy="1452880"/>
            <a:chOff x="2619" y="3142"/>
            <a:chExt cx="16580" cy="2288"/>
          </a:xfrm>
          <a:solidFill>
            <a:srgbClr val="3C85C3">
              <a:alpha val="70000"/>
            </a:srgbClr>
          </a:solidFill>
        </p:grpSpPr>
        <p:sp>
          <p:nvSpPr>
            <p:cNvPr id="3" name="五边形 2"/>
            <p:cNvSpPr/>
            <p:nvPr/>
          </p:nvSpPr>
          <p:spPr>
            <a:xfrm rot="10800000">
              <a:off x="2619" y="3142"/>
              <a:ext cx="16095" cy="2288"/>
            </a:xfrm>
            <a:prstGeom prst="homePlate">
              <a:avLst>
                <a:gd name="adj" fmla="val 35482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89" name="五边形 88"/>
            <p:cNvSpPr/>
            <p:nvPr/>
          </p:nvSpPr>
          <p:spPr>
            <a:xfrm rot="10800000">
              <a:off x="18849" y="3142"/>
              <a:ext cx="351" cy="2288"/>
            </a:xfrm>
            <a:prstGeom prst="homePlate">
              <a:avLst>
                <a:gd name="adj" fmla="val 0"/>
              </a:avLst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TextBox 20"/>
          <p:cNvSpPr txBox="1"/>
          <p:nvPr/>
        </p:nvSpPr>
        <p:spPr>
          <a:xfrm>
            <a:off x="3181350" y="2395220"/>
            <a:ext cx="8399780" cy="7067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sz="4000" b="1"/>
              <a:t>知脉溯源</a:t>
            </a:r>
            <a:endParaRPr lang="zh-CN" altLang="en-US" sz="4000" b="1" spc="1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0" name="TextBox 20"/>
          <p:cNvSpPr txBox="1"/>
          <p:nvPr/>
        </p:nvSpPr>
        <p:spPr>
          <a:xfrm>
            <a:off x="4680585" y="4818380"/>
            <a:ext cx="6762750" cy="8299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/>
              <a:t>AI教育创新团队</a:t>
            </a:r>
            <a:endParaRPr lang="zh-CN" altLang="en-US" sz="2400" b="1" spc="1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71" name="TextBox 20"/>
          <p:cNvSpPr txBox="1"/>
          <p:nvPr/>
        </p:nvSpPr>
        <p:spPr>
          <a:xfrm>
            <a:off x="4956810" y="4224020"/>
            <a:ext cx="723455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sz="2400" b="1"/>
              <a:t>知脉溯源开发组</a:t>
            </a:r>
            <a:endParaRPr lang="en-US" altLang="zh-CN" sz="2400" b="1" spc="1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-9525" y="922020"/>
            <a:ext cx="9378315" cy="405130"/>
            <a:chOff x="-15" y="1452"/>
            <a:chExt cx="14769" cy="638"/>
          </a:xfrm>
        </p:grpSpPr>
        <p:sp>
          <p:nvSpPr>
            <p:cNvPr id="2" name="TextBox 20"/>
            <p:cNvSpPr txBox="1"/>
            <p:nvPr/>
          </p:nvSpPr>
          <p:spPr>
            <a:xfrm>
              <a:off x="546" y="1452"/>
              <a:ext cx="14208" cy="62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创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AI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案例类别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: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教育智能体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/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智能信息系统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/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人工智能学习工具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（楷体</a:t>
              </a:r>
              <a:r>
                <a:rPr lang="en-US" altLang="zh-CN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20</a:t>
              </a:r>
              <a:r>
                <a:rPr lang="zh-CN" altLang="en-US" sz="2000" spc="100" dirty="0">
                  <a:solidFill>
                    <a:schemeClr val="bg1"/>
                  </a:solidFill>
                  <a:latin typeface="楷体" panose="02010609060101010101" charset="-122"/>
                  <a:ea typeface="楷体" panose="02010609060101010101" charset="-122"/>
                  <a:cs typeface="楷体" panose="02010609060101010101" charset="-122"/>
                </a:rPr>
                <a:t>号）</a:t>
              </a:r>
              <a:endParaRPr lang="zh-CN" altLang="en-US" sz="2000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endParaRPr>
            </a:p>
          </p:txBody>
        </p:sp>
        <p:cxnSp>
          <p:nvCxnSpPr>
            <p:cNvPr id="8" name="直接连接符 7"/>
            <p:cNvCxnSpPr/>
            <p:nvPr/>
          </p:nvCxnSpPr>
          <p:spPr>
            <a:xfrm>
              <a:off x="-15" y="2090"/>
              <a:ext cx="6427" cy="0"/>
            </a:xfrm>
            <a:prstGeom prst="line">
              <a:avLst/>
            </a:prstGeom>
            <a:ln w="25400">
              <a:solidFill>
                <a:srgbClr val="3C85C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五边形 8"/>
            <p:cNvSpPr/>
            <p:nvPr/>
          </p:nvSpPr>
          <p:spPr>
            <a:xfrm>
              <a:off x="0" y="1526"/>
              <a:ext cx="513" cy="564"/>
            </a:xfrm>
            <a:prstGeom prst="homePlate">
              <a:avLst>
                <a:gd name="adj" fmla="val 28927"/>
              </a:avLst>
            </a:prstGeom>
            <a:solidFill>
              <a:srgbClr val="3C85C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2800000" y="3600000"/>
            <a:ext cx="9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66666"/>
                </a:solidFill>
              </a:rPr>
              <a:t>CDM驱动的知识状态诊断与根因追溯系统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2997835" y="1392555"/>
            <a:ext cx="8003540" cy="5365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0"/>
              <a:t>教学痛点：</a:t>
            </a:r>
            <a:endParaRPr lang="zh-CN" altLang="en-US" sz="2400" spc="100" dirty="0">
              <a:solidFill>
                <a:schemeClr val="tx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r>
              <a:rPr sz="2400" b="0"/>
              <a:t>考试后只知道分数低，却不知道</a:t>
            </a:r>
          </a:p>
          <a:p>
            <a:r>
              <a:rPr sz="2400" b="0"/>
              <a:t>每个学生「具体哪个知识点没掌握」</a:t>
            </a:r>
          </a:p>
          <a:p>
            <a:r>
              <a:rPr sz="2400" b="0"/>
              <a:t>更无法追溯「问题的根本原因是什么」</a:t>
            </a:r>
          </a:p>
          <a:p>
            <a:r>
              <a:rPr sz="2400" b="0"/>
              <a:t/>
            </a:r>
          </a:p>
          <a:p>
            <a:r>
              <a:rPr sz="2400" b="0"/>
              <a:t>知脉溯源  ——  从数据出发，追溯每个知识盲点的根源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425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000" dirty="0">
                  <a:latin typeface="黑体" panose="02010609060101010101" charset="-122"/>
                  <a:ea typeface="黑体" panose="02010609060101010101" charset="-122"/>
                  <a:sym typeface="+mn-ea"/>
                </a:rPr>
                <a:t>案例概述</a:t>
              </a:r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388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4000" dirty="0"/>
                <a:t>实现功能</a:t>
              </a:r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Box 20"/>
          <p:cNvSpPr txBox="1"/>
          <p:nvPr>
            <p:custDataLst>
              <p:tags r:id="rId2"/>
            </p:custDataLst>
          </p:nvPr>
        </p:nvSpPr>
        <p:spPr>
          <a:xfrm>
            <a:off x="4656657" y="1520823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/>
              <a:t>知识中心：6层知识图谱，目录树管理知识点 + 关系图谱发现知识关联</a:t>
            </a:r>
            <a:endParaRPr lang="en-US" altLang="zh-CN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TextBox 20"/>
          <p:cNvSpPr txBox="1"/>
          <p:nvPr>
            <p:custDataLst>
              <p:tags r:id="rId3"/>
            </p:custDataLst>
          </p:nvPr>
        </p:nvSpPr>
        <p:spPr>
          <a:xfrm>
            <a:off x="4656657" y="2659512"/>
            <a:ext cx="6974772" cy="891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sz="2400" b="1"/>
              <a:t>作业中心：题目-知识点Q矩阵可视化编辑，答题数据一键导入</a:t>
            </a:r>
            <a:endParaRPr lang="en-US" altLang="zh-CN" sz="2600" b="1" spc="100" dirty="0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8" name="TextBox 20"/>
          <p:cNvSpPr txBox="1"/>
          <p:nvPr>
            <p:custDataLst>
              <p:tags r:id="rId4"/>
            </p:custDataLst>
          </p:nvPr>
        </p:nvSpPr>
        <p:spPr>
          <a:xfrm>
            <a:off x="4656657" y="3798201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sz="2400" b="1"/>
              <a:t>诊断中心：DINA模型驱动，班级 &amp; 学生双维度认知诊断</a:t>
            </a: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TextBox 20"/>
          <p:cNvSpPr txBox="1"/>
          <p:nvPr>
            <p:custDataLst>
              <p:tags r:id="rId5"/>
            </p:custDataLst>
          </p:nvPr>
        </p:nvSpPr>
        <p:spPr>
          <a:xfrm>
            <a:off x="4656657" y="4965464"/>
            <a:ext cx="6974772" cy="1291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sz="2400" b="1"/>
              <a:t>教学决策：根因追溯 + 反事实预测 + 个性化学习路径推荐</a:t>
            </a:r>
            <a:endParaRPr lang="zh-CN" altLang="en-US" sz="2600" b="1" spc="100" dirty="0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3532085" y="1370965"/>
            <a:ext cx="682625" cy="683260"/>
            <a:chOff x="3162416" y="1535627"/>
            <a:chExt cx="923809" cy="924143"/>
          </a:xfrm>
        </p:grpSpPr>
        <p:grpSp>
          <p:nvGrpSpPr>
            <p:cNvPr id="42" name="组合 41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46" name="同心圆 4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椭圆 4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椭圆 4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3" name="TextBox 20"/>
            <p:cNvSpPr txBox="1"/>
            <p:nvPr>
              <p:custDataLst>
                <p:tags r:id="rId10"/>
              </p:custDataLst>
            </p:nvPr>
          </p:nvSpPr>
          <p:spPr>
            <a:xfrm>
              <a:off x="3299266" y="1703540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1"/>
            </p:custDataLst>
          </p:nvPr>
        </p:nvGrpSpPr>
        <p:grpSpPr>
          <a:xfrm>
            <a:off x="3532085" y="2524125"/>
            <a:ext cx="682625" cy="683260"/>
            <a:chOff x="3162416" y="1535627"/>
            <a:chExt cx="923809" cy="924143"/>
          </a:xfrm>
        </p:grpSpPr>
        <p:grpSp>
          <p:nvGrpSpPr>
            <p:cNvPr id="49" name="组合 48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53" name="同心圆 5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椭圆 5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2" name="椭圆 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3532085" y="3676650"/>
            <a:ext cx="682625" cy="683260"/>
            <a:chOff x="3162416" y="1535627"/>
            <a:chExt cx="923809" cy="924143"/>
          </a:xfrm>
        </p:grpSpPr>
        <p:grpSp>
          <p:nvGrpSpPr>
            <p:cNvPr id="56" name="组合 55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0" name="同心圆 5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椭圆 6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9" name="椭圆 58"/>
              <p:cNvSpPr/>
              <p:nvPr>
                <p:custDataLst>
                  <p:tags r:id="rId1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329926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1"/>
            </p:custDataLst>
          </p:nvPr>
        </p:nvGrpSpPr>
        <p:grpSpPr>
          <a:xfrm>
            <a:off x="3532085" y="4829175"/>
            <a:ext cx="682625" cy="683260"/>
            <a:chOff x="3162416" y="1535627"/>
            <a:chExt cx="923809" cy="924143"/>
          </a:xfrm>
        </p:grpSpPr>
        <p:grpSp>
          <p:nvGrpSpPr>
            <p:cNvPr id="63" name="组合 62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8" name="同心圆 6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椭圆 7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7" name="椭圆 66"/>
              <p:cNvSpPr/>
              <p:nvPr>
                <p:custDataLst>
                  <p:tags r:id="rId2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5" name="TextBox 20"/>
            <p:cNvSpPr txBox="1"/>
            <p:nvPr>
              <p:custDataLst>
                <p:tags r:id="rId2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000" b="1"/>
              <a:t>一、知识中心与作业联动</a:t>
            </a:r>
            <a:endParaRPr lang="zh-CN" altLang="en-US" sz="3000" b="1" spc="1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1038479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实现功能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0"/>
              <a:t>1. 目录树按学科→主题→单元→知识点层级管理，支持搜索与右键操作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 b="0"/>
              <a:t>2. 知识图谱发现前驱-后继关系，节点双击查看追溯路径与影响范围</a:t>
            </a:r>
          </a:p>
          <a:p>
            <a:r>
              <a:rPr sz="2000" b="0"/>
              <a:t>3. Q矩阵可视化编辑：标记每道题考察的知识点，点击切换 √/○</a:t>
            </a:r>
          </a:p>
          <a:p>
            <a:r>
              <a:rPr sz="2000" b="0"/>
              <a:t>4. 知识点与作业联动：选中知识点可查看关联题目与作答数据</a:t>
            </a:r>
          </a:p>
        </p:txBody>
      </p:sp>
      <p:pic>
        <p:nvPicPr>
          <p:cNvPr id="27" name="Picture 26" descr="knowledge-center-2026-05-20T04-34-11-017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3700000"/>
            <a:ext cx="5300000" cy="29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000" b="1"/>
              <a:t>二、CDM诊断与教学决策</a:t>
            </a:r>
            <a:endParaRPr lang="zh-CN" altLang="en-US" sz="3000" b="1" spc="1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0"/>
              <a:t>1. DINA认知诊断模型 + EM算法，从答题数据客观估计学生知识状态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 b="0"/>
              <a:t>2. 班级掌握率热力图：红色 = 薄弱，绿色 = 掌握，一目了然</a:t>
            </a:r>
          </a:p>
          <a:p>
            <a:r>
              <a:rPr sz="2000" b="0"/>
              <a:t>3. 根因追溯树：沿知识图谱前驱路径，找到最深层的知识缺口</a:t>
            </a:r>
          </a:p>
          <a:p>
            <a:r>
              <a:rPr sz="2000" b="0"/>
              <a:t>4. 反事实预测：量化补课收益——「若补上XX，掌握率可从25%→68%」</a:t>
            </a:r>
          </a:p>
        </p:txBody>
      </p:sp>
      <p:sp>
        <p:nvSpPr>
          <p:cNvPr id="2" name="TextBox 20"/>
          <p:cNvSpPr txBox="1"/>
          <p:nvPr/>
        </p:nvSpPr>
        <p:spPr>
          <a:xfrm>
            <a:off x="1038479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实现功能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Picture 25" descr="diagnosis-center-2026-05-20T04-33-29-649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3700000"/>
            <a:ext cx="5300000" cy="29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0" y="1392555"/>
            <a:ext cx="2567305" cy="4203700"/>
            <a:chOff x="0" y="2193"/>
            <a:chExt cx="4043" cy="6620"/>
          </a:xfrm>
        </p:grpSpPr>
        <p:sp>
          <p:nvSpPr>
            <p:cNvPr id="5" name="五边形 4"/>
            <p:cNvSpPr/>
            <p:nvPr/>
          </p:nvSpPr>
          <p:spPr>
            <a:xfrm>
              <a:off x="395" y="2193"/>
              <a:ext cx="3648" cy="6620"/>
            </a:xfrm>
            <a:prstGeom prst="homePlate">
              <a:avLst>
                <a:gd name="adj" fmla="val 28927"/>
              </a:avLst>
            </a:prstGeom>
            <a:solidFill>
              <a:srgbClr val="2F5597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980" y="3377"/>
              <a:ext cx="1663" cy="40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algn="ctr" fontAlgn="auto">
                <a:spcBef>
                  <a:spcPts val="0"/>
                </a:spcBef>
                <a:spcAft>
                  <a:spcPts val="0"/>
                </a:spcAft>
                <a:defRPr sz="3800" b="1" kern="0" spc="-150">
                  <a:ln w="1905">
                    <a:noFill/>
                  </a:ln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zh-CN" altLang="en-US" sz="4000" dirty="0"/>
                <a:t>应用情况</a:t>
              </a:r>
              <a:endParaRPr lang="zh-CN" altLang="en-US" sz="4000" dirty="0"/>
            </a:p>
          </p:txBody>
        </p:sp>
        <p:sp>
          <p:nvSpPr>
            <p:cNvPr id="41" name="五边形 40"/>
            <p:cNvSpPr/>
            <p:nvPr/>
          </p:nvSpPr>
          <p:spPr>
            <a:xfrm rot="10800000">
              <a:off x="0" y="2193"/>
              <a:ext cx="306" cy="6620"/>
            </a:xfrm>
            <a:prstGeom prst="homePlate">
              <a:avLst>
                <a:gd name="adj" fmla="val 0"/>
              </a:avLst>
            </a:prstGeom>
            <a:solidFill>
              <a:srgbClr val="3E56A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ea typeface="微软雅黑" panose="020B0503020204020204" pitchFamily="34" charset="-122"/>
              </a:endParaRPr>
            </a:p>
          </p:txBody>
        </p:sp>
      </p:grpSp>
      <p:sp>
        <p:nvSpPr>
          <p:cNvPr id="36" name="TextBox 20"/>
          <p:cNvSpPr txBox="1"/>
          <p:nvPr>
            <p:custDataLst>
              <p:tags r:id="rId2"/>
            </p:custDataLst>
          </p:nvPr>
        </p:nvSpPr>
        <p:spPr>
          <a:xfrm>
            <a:off x="4656657" y="1520823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400" b="1"/>
              <a:t>5-Agent协作：诊断/知识/追溯/教学/进化 Agent 通过 AgentBus 总线实时联动</a:t>
            </a:r>
            <a:endParaRPr lang="en-US" altLang="zh-CN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7" name="TextBox 20"/>
          <p:cNvSpPr txBox="1"/>
          <p:nvPr>
            <p:custDataLst>
              <p:tags r:id="rId3"/>
            </p:custDataLst>
          </p:nvPr>
        </p:nvSpPr>
        <p:spPr>
          <a:xfrm>
            <a:off x="4656657" y="2659512"/>
            <a:ext cx="6974772" cy="8915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sz="2400" b="1"/>
              <a:t>DINA + EM算法：客观估计Slip（粗心）/ Guess（猜测）参数与知识状态 α 向量</a:t>
            </a:r>
            <a:endParaRPr lang="en-US" altLang="zh-CN" sz="2600" b="1" spc="100" dirty="0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8" name="TextBox 20"/>
          <p:cNvSpPr txBox="1"/>
          <p:nvPr>
            <p:custDataLst>
              <p:tags r:id="rId4"/>
            </p:custDataLst>
          </p:nvPr>
        </p:nvSpPr>
        <p:spPr>
          <a:xfrm>
            <a:off x="4656657" y="3798201"/>
            <a:ext cx="6974772" cy="4914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sz="2400" b="1"/>
              <a:t>6层知识图谱：学科→主题→单元→知识点→考点→考法，支持前驱-后继关系推理</a:t>
            </a:r>
            <a:endParaRPr lang="zh-CN" altLang="en-US" sz="2600" b="1" spc="100" dirty="0">
              <a:solidFill>
                <a:srgbClr val="0070C0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9" name="TextBox 20"/>
          <p:cNvSpPr txBox="1"/>
          <p:nvPr>
            <p:custDataLst>
              <p:tags r:id="rId5"/>
            </p:custDataLst>
          </p:nvPr>
        </p:nvSpPr>
        <p:spPr>
          <a:xfrm>
            <a:off x="4656657" y="4965464"/>
            <a:ext cx="6974772" cy="12915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buClrTx/>
              <a:buSzTx/>
              <a:buFontTx/>
            </a:pPr>
            <a:r>
              <a:rPr sz="2400" b="1"/>
              <a:t>全栈架构：React 18 + Ant Design 5 + FastAPI + PostgreSQL + Docker Compose</a:t>
            </a:r>
            <a:endParaRPr lang="zh-CN" altLang="en-US" sz="2600" b="1" spc="100" dirty="0">
              <a:solidFill>
                <a:srgbClr val="0070C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grpSp>
        <p:nvGrpSpPr>
          <p:cNvPr id="40" name="组合 39"/>
          <p:cNvGrpSpPr/>
          <p:nvPr>
            <p:custDataLst>
              <p:tags r:id="rId6"/>
            </p:custDataLst>
          </p:nvPr>
        </p:nvGrpSpPr>
        <p:grpSpPr>
          <a:xfrm>
            <a:off x="3532085" y="1370965"/>
            <a:ext cx="682625" cy="683260"/>
            <a:chOff x="3162416" y="1535627"/>
            <a:chExt cx="923809" cy="924143"/>
          </a:xfrm>
        </p:grpSpPr>
        <p:grpSp>
          <p:nvGrpSpPr>
            <p:cNvPr id="42" name="组合 41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44" name="组合 43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46" name="同心圆 45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7" name="椭圆 46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5" name="椭圆 44"/>
              <p:cNvSpPr/>
              <p:nvPr>
                <p:custDataLst>
                  <p:tags r:id="rId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3" name="TextBox 20"/>
            <p:cNvSpPr txBox="1"/>
            <p:nvPr>
              <p:custDataLst>
                <p:tags r:id="rId10"/>
              </p:custDataLst>
            </p:nvPr>
          </p:nvSpPr>
          <p:spPr>
            <a:xfrm>
              <a:off x="3299266" y="1703540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1"/>
            </p:custDataLst>
          </p:nvPr>
        </p:nvGrpSpPr>
        <p:grpSpPr>
          <a:xfrm>
            <a:off x="3532085" y="2524125"/>
            <a:ext cx="682625" cy="683260"/>
            <a:chOff x="3162416" y="1535627"/>
            <a:chExt cx="923809" cy="924143"/>
          </a:xfrm>
        </p:grpSpPr>
        <p:grpSp>
          <p:nvGrpSpPr>
            <p:cNvPr id="49" name="组合 48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1" name="组合 50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53" name="同心圆 52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4" name="椭圆 53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2" name="椭圆 51"/>
              <p:cNvSpPr/>
              <p:nvPr>
                <p:custDataLst>
                  <p:tags r:id="rId1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" name="TextBox 20"/>
            <p:cNvSpPr txBox="1"/>
            <p:nvPr>
              <p:custDataLst>
                <p:tags r:id="rId1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16"/>
            </p:custDataLst>
          </p:nvPr>
        </p:nvGrpSpPr>
        <p:grpSpPr>
          <a:xfrm>
            <a:off x="3532085" y="3676650"/>
            <a:ext cx="682625" cy="683260"/>
            <a:chOff x="3162416" y="1535627"/>
            <a:chExt cx="923809" cy="924143"/>
          </a:xfrm>
        </p:grpSpPr>
        <p:grpSp>
          <p:nvGrpSpPr>
            <p:cNvPr id="56" name="组合 55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0" name="同心圆 59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1" name="椭圆 60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59" name="椭圆 58"/>
              <p:cNvSpPr/>
              <p:nvPr>
                <p:custDataLst>
                  <p:tags r:id="rId19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3E56A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7" name="TextBox 20"/>
            <p:cNvSpPr txBox="1"/>
            <p:nvPr>
              <p:custDataLst>
                <p:tags r:id="rId20"/>
              </p:custDataLst>
            </p:nvPr>
          </p:nvSpPr>
          <p:spPr>
            <a:xfrm>
              <a:off x="329926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2" name="组合 61"/>
          <p:cNvGrpSpPr/>
          <p:nvPr>
            <p:custDataLst>
              <p:tags r:id="rId21"/>
            </p:custDataLst>
          </p:nvPr>
        </p:nvGrpSpPr>
        <p:grpSpPr>
          <a:xfrm>
            <a:off x="3532085" y="4829175"/>
            <a:ext cx="682625" cy="683260"/>
            <a:chOff x="3162416" y="1535627"/>
            <a:chExt cx="923809" cy="924143"/>
          </a:xfrm>
        </p:grpSpPr>
        <p:grpSp>
          <p:nvGrpSpPr>
            <p:cNvPr id="63" name="组合 62"/>
            <p:cNvGrpSpPr/>
            <p:nvPr/>
          </p:nvGrpSpPr>
          <p:grpSpPr>
            <a:xfrm>
              <a:off x="3162416" y="1535627"/>
              <a:ext cx="923809" cy="924143"/>
              <a:chOff x="4345444" y="2542859"/>
              <a:chExt cx="1810550" cy="1811205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4345444" y="2542859"/>
                <a:ext cx="1810550" cy="1811205"/>
                <a:chOff x="1463339" y="1072758"/>
                <a:chExt cx="1546058" cy="1546058"/>
              </a:xfrm>
              <a:effectLst>
                <a:outerShdw blurRad="330200" dist="215900" dir="6900000" sx="91000" sy="91000" algn="t" rotWithShape="0">
                  <a:prstClr val="black">
                    <a:alpha val="49000"/>
                  </a:prstClr>
                </a:outerShdw>
              </a:effectLst>
            </p:grpSpPr>
            <p:sp>
              <p:nvSpPr>
                <p:cNvPr id="68" name="同心圆 67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1463339" y="1072758"/>
                  <a:ext cx="1546058" cy="1546058"/>
                </a:xfrm>
                <a:prstGeom prst="donut">
                  <a:avLst>
                    <a:gd name="adj" fmla="val 4879"/>
                  </a:avLst>
                </a:prstGeom>
                <a:gradFill>
                  <a:gsLst>
                    <a:gs pos="0">
                      <a:schemeClr val="bg1">
                        <a:lumMod val="95000"/>
                      </a:schemeClr>
                    </a:gs>
                    <a:gs pos="55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81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solidFill>
                      <a:schemeClr val="tx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椭圆 70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1484232" y="1093651"/>
                  <a:ext cx="1504274" cy="1504273"/>
                </a:xfrm>
                <a:prstGeom prst="ellipse">
                  <a:avLst/>
                </a:prstGeom>
                <a:gradFill>
                  <a:gsLst>
                    <a:gs pos="0">
                      <a:schemeClr val="bg1"/>
                    </a:gs>
                    <a:gs pos="51000">
                      <a:schemeClr val="bg1">
                        <a:lumMod val="95000"/>
                      </a:schemeClr>
                    </a:gs>
                    <a:gs pos="100000">
                      <a:schemeClr val="bg1">
                        <a:lumMod val="85000"/>
                      </a:schemeClr>
                    </a:gs>
                  </a:gsLst>
                  <a:lin ang="18900000" scaled="0"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67" name="椭圆 66"/>
              <p:cNvSpPr/>
              <p:nvPr>
                <p:custDataLst>
                  <p:tags r:id="rId24"/>
                </p:custDataLst>
              </p:nvPr>
            </p:nvSpPr>
            <p:spPr>
              <a:xfrm>
                <a:off x="4523580" y="2742068"/>
                <a:ext cx="1433004" cy="1433521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65" name="TextBox 20"/>
            <p:cNvSpPr txBox="1"/>
            <p:nvPr>
              <p:custDataLst>
                <p:tags r:id="rId25"/>
              </p:custDataLst>
            </p:nvPr>
          </p:nvSpPr>
          <p:spPr>
            <a:xfrm>
              <a:off x="3286376" y="1677774"/>
              <a:ext cx="476498" cy="62268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400" b="1" spc="1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</a:t>
              </a:r>
              <a:endParaRPr lang="zh-CN" altLang="en-US" sz="2400" b="1" spc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000" b="1"/>
              <a:t>一、班级维度诊断</a:t>
            </a:r>
            <a:endParaRPr lang="zh-CN" altLang="en-US" sz="3000" b="1" spc="100" dirty="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26" name="TextBox 20"/>
          <p:cNvSpPr txBox="1"/>
          <p:nvPr/>
        </p:nvSpPr>
        <p:spPr>
          <a:xfrm>
            <a:off x="1032891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应用情况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0"/>
              <a:t>1. 班级平均掌握率概览：整体水平 + 薄弱知识点排行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 b="0"/>
              <a:t>2. 掌握率热力图：每个学生在每个知识点上的掌握情况，红绿渐变直观呈现</a:t>
            </a:r>
          </a:p>
          <a:p>
            <a:r>
              <a:rPr sz="2000" b="0"/>
              <a:t>3. 薄弱知识点排行榜：辅助教研组精准定位教学重点</a:t>
            </a:r>
          </a:p>
          <a:p>
            <a:r>
              <a:rPr sz="2000" b="0"/>
              <a:t>4. CDM参数表：Slip率和Guess率，揭示题目质量与教学适配度</a:t>
            </a:r>
          </a:p>
        </p:txBody>
      </p:sp>
      <p:pic>
        <p:nvPicPr>
          <p:cNvPr id="27" name="Picture 26" descr="diagnosis-center-2026-05-20T04-33-29-649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3700000"/>
            <a:ext cx="5300000" cy="29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0"/>
          <p:cNvSpPr txBox="1"/>
          <p:nvPr/>
        </p:nvSpPr>
        <p:spPr>
          <a:xfrm>
            <a:off x="560441" y="278788"/>
            <a:ext cx="9962225" cy="5530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3000" b="1"/>
              <a:t>二、个体精准干预</a:t>
            </a:r>
            <a:endParaRPr lang="zh-CN" altLang="en-US" sz="3000" b="1" spc="1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25" name="五边形 24"/>
          <p:cNvSpPr/>
          <p:nvPr/>
        </p:nvSpPr>
        <p:spPr>
          <a:xfrm rot="10800000">
            <a:off x="9714230" y="0"/>
            <a:ext cx="2477770" cy="982345"/>
          </a:xfrm>
          <a:prstGeom prst="homePlate">
            <a:avLst>
              <a:gd name="adj" fmla="val 35482"/>
            </a:avLst>
          </a:prstGeom>
          <a:solidFill>
            <a:schemeClr val="bg1"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ea typeface="微软雅黑" panose="020B0503020204020204" pitchFamily="34" charset="-122"/>
            </a:endParaRPr>
          </a:p>
        </p:txBody>
      </p:sp>
      <p:sp>
        <p:nvSpPr>
          <p:cNvPr id="3" name="TextBox 20"/>
          <p:cNvSpPr txBox="1"/>
          <p:nvPr/>
        </p:nvSpPr>
        <p:spPr>
          <a:xfrm>
            <a:off x="702310" y="1519555"/>
            <a:ext cx="10556875" cy="5848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2000" b="0"/>
              <a:t>1. 单个学生知识状态诊断：每个知识点的掌握概率与薄弱点定位</a:t>
            </a:r>
            <a:endParaRPr lang="zh-CN" altLang="en-US" sz="2000" spc="100" dirty="0">
              <a:solidFill>
                <a:schemeClr val="tx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r>
              <a:rPr sz="2000" b="0"/>
              <a:t>2. 知识图谱根因追溯：沿前驱路径，找到最深层的知识缺口</a:t>
            </a:r>
          </a:p>
          <a:p>
            <a:r>
              <a:rPr sz="2000" b="0"/>
              <a:t>3. 个性化学习路径：基于α向量的自适应推荐，标注预计用时</a:t>
            </a:r>
          </a:p>
          <a:p>
            <a:r>
              <a:rPr sz="2000" b="0"/>
              <a:t>4. 5-Agent实时监控：诊断/知识/追溯/教学/进化 Agent状态可视化</a:t>
            </a:r>
          </a:p>
        </p:txBody>
      </p:sp>
      <p:sp>
        <p:nvSpPr>
          <p:cNvPr id="2" name="TextBox 20"/>
          <p:cNvSpPr txBox="1"/>
          <p:nvPr/>
        </p:nvSpPr>
        <p:spPr>
          <a:xfrm>
            <a:off x="10328910" y="278765"/>
            <a:ext cx="1859915" cy="46037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t" anchorCtr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400" b="1" spc="100" dirty="0">
                <a:solidFill>
                  <a:srgbClr val="2C489B"/>
                </a:solidFill>
                <a:latin typeface="黑体" panose="02010609060101010101" charset="-122"/>
                <a:ea typeface="黑体" panose="02010609060101010101" charset="-122"/>
              </a:rPr>
              <a:t>应用情况</a:t>
            </a:r>
            <a:endParaRPr lang="zh-CN" altLang="en-US" sz="2400" b="1" spc="100" dirty="0">
              <a:solidFill>
                <a:srgbClr val="2C489B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26" name="Picture 25" descr="agent-monitor-2026-05-20T04-32-50-829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310" y="3700000"/>
            <a:ext cx="5300000" cy="290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idx="13"/>
          </p:nvPr>
        </p:nvSpPr>
        <p:spPr>
          <a:xfrm>
            <a:off x="4960773" y="2474136"/>
            <a:ext cx="5633085" cy="1651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7200" b="1" spc="100" dirty="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谢谢！</a:t>
            </a:r>
            <a:endParaRPr lang="zh-CN" altLang="en-US" sz="7200" b="1" spc="100" dirty="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1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2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39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0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1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2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3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4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5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6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7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8.xml><?xml version="1.0" encoding="utf-8"?>
<p:tagLst xmlns:p="http://schemas.openxmlformats.org/presentationml/2006/main">
  <p:tag name="KSO_WM_DIAGRAM_VIRTUALLY_FRAME" val="{&quot;height&quot;:377.43141732283465,&quot;left&quot;:327.4066141732284,&quot;top&quot;:124.45,&quot;width&quot;:673.6370078740158}"/>
</p:tagLst>
</file>

<file path=ppt/tags/tag49.xml><?xml version="1.0" encoding="utf-8"?>
<p:tagLst xmlns:p="http://schemas.openxmlformats.org/presentationml/2006/main">
  <p:tag name="RESOURCE_RECORD_KEY" val="{&quot;13&quot;:[4519456,4519452,20025430,4364924,4364903,4364942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</Words>
  <Application>WPS 演示</Application>
  <PresentationFormat>宽屏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楷体</vt:lpstr>
      <vt:lpstr>黑体</vt:lpstr>
      <vt:lpstr>Arial Unicode MS</vt:lpstr>
      <vt:lpstr>等线 Light</vt:lpstr>
      <vt:lpstr>等线</vt:lpstr>
      <vt:lpstr>Calibri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苏</cp:lastModifiedBy>
  <cp:revision>138</cp:revision>
  <dcterms:created xsi:type="dcterms:W3CDTF">2026-03-16T02:33:00Z</dcterms:created>
  <dcterms:modified xsi:type="dcterms:W3CDTF">2026-05-19T03:52:07Z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KSOTemplateUUID">
    <vt:lpwstr>v1.0_mb_YFc6q+HctIANJrpWT950vA==</vt:lpwstr>
  </property>
  <property fmtid="{D5CDD505-2E9C-101B-9397-08002B2CF9AE}" pid="4" name="ICV">
    <vt:lpwstr>1491BA82B43E4CDAB81CF3AC64D0B8A3_13</vt:lpwstr>
  </property>
</Properties>
</file>